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GitHub Copilot Extensibility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69ED"/>
                </a:solidFill>
              </a:defRPr>
            </a:pPr>
            <a:r>
              <a:t>Instructions  •  Agents  •  Skills  •  Spaces  • 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7606A"/>
                </a:solidFill>
              </a:defRPr>
            </a:pPr>
            <a:r>
              <a:t>When and where to use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606A"/>
                </a:solidFill>
              </a:defRPr>
            </a:pPr>
            <a:r>
              <a:t>GitHub Solutions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0"/>
          </a:xfrm>
          <a:prstGeom prst="round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Landscape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8B949E"/>
                </a:solidFill>
              </a:defRPr>
            </a:pPr>
            <a:r>
              <a:t>Copilot is a customizable, extensible AI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2011680" cy="3108960"/>
          </a:xfrm>
          <a:prstGeom prst="roundRect">
            <a:avLst/>
          </a:prstGeom>
          <a:solidFill>
            <a:srgbClr val="DEEEFF"/>
          </a:solidFill>
          <a:ln w="6350">
            <a:solidFill>
              <a:srgbClr val="57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3600" b="0">
                <a:solidFill>
                  <a:srgbClr val="24292E"/>
                </a:solidFill>
              </a:defRPr>
            </a:pPr>
            <a:r>
              <a:t>📋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2200" b="1">
                <a:solidFill>
                  <a:srgbClr val="24292E"/>
                </a:solidFill>
              </a:defRPr>
            </a:pPr>
            <a:r>
              <a:t>Instructions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57606A"/>
                </a:solidFill>
              </a:defRPr>
            </a:pPr>
            <a:r>
              <a:t>Always-on coding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360" y="1828800"/>
            <a:ext cx="2011680" cy="3108960"/>
          </a:xfrm>
          <a:prstGeom prst="roundRect">
            <a:avLst/>
          </a:prstGeom>
          <a:solidFill>
            <a:srgbClr val="E6DCFC"/>
          </a:solidFill>
          <a:ln w="6350">
            <a:solidFill>
              <a:srgbClr val="57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3600" b="0">
                <a:solidFill>
                  <a:srgbClr val="24292E"/>
                </a:solidFill>
              </a:defRPr>
            </a:pPr>
            <a:r>
              <a:t>🤖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2200" b="1">
                <a:solidFill>
                  <a:srgbClr val="24292E"/>
                </a:solidFill>
              </a:defRPr>
            </a:pPr>
            <a:r>
              <a:t>Agents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57606A"/>
                </a:solidFill>
              </a:defRPr>
            </a:pPr>
            <a:r>
              <a:t>Autonomous AI teammates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828800"/>
            <a:ext cx="2011680" cy="3108960"/>
          </a:xfrm>
          <a:prstGeom prst="roundRect">
            <a:avLst/>
          </a:prstGeom>
          <a:solidFill>
            <a:srgbClr val="DCF5E4"/>
          </a:solidFill>
          <a:ln w="6350">
            <a:solidFill>
              <a:srgbClr val="57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3600" b="0">
                <a:solidFill>
                  <a:srgbClr val="24292E"/>
                </a:solidFill>
              </a:defRPr>
            </a:pPr>
            <a:r>
              <a:t>🧩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2200" b="1">
                <a:solidFill>
                  <a:srgbClr val="24292E"/>
                </a:solidFill>
              </a:defRPr>
            </a:pPr>
            <a:r>
              <a:t>Skills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57606A"/>
                </a:solidFill>
              </a:defRPr>
            </a:pPr>
            <a:r>
              <a:t>Reusable task playbooks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828800"/>
            <a:ext cx="2011680" cy="3108960"/>
          </a:xfrm>
          <a:prstGeom prst="roundRect">
            <a:avLst/>
          </a:prstGeom>
          <a:solidFill>
            <a:srgbClr val="FFF1DB"/>
          </a:solidFill>
          <a:ln w="6350">
            <a:solidFill>
              <a:srgbClr val="57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3600" b="0">
                <a:solidFill>
                  <a:srgbClr val="24292E"/>
                </a:solidFill>
              </a:defRPr>
            </a:pPr>
            <a:r>
              <a:t>🌐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2200" b="1">
                <a:solidFill>
                  <a:srgbClr val="24292E"/>
                </a:solidFill>
              </a:defRPr>
            </a:pPr>
            <a:r>
              <a:t>Spaces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57606A"/>
                </a:solidFill>
              </a:defRPr>
            </a:pPr>
            <a:r>
              <a:t>Shared knowledge hubs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2011680" cy="3108960"/>
          </a:xfrm>
          <a:prstGeom prst="roundRect">
            <a:avLst/>
          </a:prstGeom>
          <a:solidFill>
            <a:srgbClr val="FCE1E4"/>
          </a:solidFill>
          <a:ln w="6350">
            <a:solidFill>
              <a:srgbClr val="57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3600" b="0">
                <a:solidFill>
                  <a:srgbClr val="24292E"/>
                </a:solidFill>
              </a:defRPr>
            </a:pPr>
            <a:r>
              <a:t>🔌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2200" b="1">
                <a:solidFill>
                  <a:srgbClr val="24292E"/>
                </a:solidFill>
              </a:defRPr>
            </a:pPr>
            <a:r>
              <a:t>MCP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57606A"/>
                </a:solidFill>
              </a:defRPr>
            </a:pPr>
            <a:r>
              <a:t>External tool connections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606A"/>
                </a:solidFill>
              </a:defRPr>
            </a:pPr>
            <a:r>
              <a:t>GitHub Solutions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0"/>
          </a:xfrm>
          <a:prstGeom prst="round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📋 Copilot Instructions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8B949E"/>
                </a:solidFill>
              </a:defRPr>
            </a:pPr>
            <a:r>
              <a:t>Persistent rules Copilot always follows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9ED"/>
                </a:solidFill>
              </a:defRPr>
            </a:pPr>
            <a:r>
              <a:t>How it works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.github/copilot-instructions.md → repo-wide rules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.instructions.md files → path-specific (frontend vs. backend)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YAML frontmatter defines which files each applies to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User-level rules via IDE settings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Org-level rules via Copilot policy settings</a:t>
            </a:r>
          </a:p>
          <a:p>
            <a:pPr algn="l">
              <a:spcBef>
                <a:spcPts val="2000"/>
              </a:spcBef>
              <a:spcAft>
                <a:spcPts val="200"/>
              </a:spcAft>
              <a:defRPr sz="2200" b="1">
                <a:solidFill>
                  <a:srgbClr val="0069ED"/>
                </a:solidFill>
              </a:defRPr>
            </a:pPr>
            <a:r>
              <a:t>When to use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Enforce coding standards and naming conventions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Set security requirements for every suggestion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Define architecture guidelines and forbidden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F6F8FA"/>
          </a:solidFill>
          <a:ln w="6350">
            <a:solidFill>
              <a:srgbClr val="57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1400" b="1">
                <a:solidFill>
                  <a:srgbClr val="57606A"/>
                </a:solidFill>
              </a:defRPr>
            </a:pPr>
            <a:r>
              <a:t>Example: .github/copilot-instructions.md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1">
                <a:solidFill>
                  <a:srgbClr val="24292E"/>
                </a:solidFill>
              </a:defRPr>
            </a:pPr>
            <a:r>
              <a:t>## Code Style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57606A"/>
                </a:solidFill>
              </a:defRPr>
            </a:pPr>
            <a:r>
              <a:t>- Use camelCase for variables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57606A"/>
                </a:solidFill>
              </a:defRPr>
            </a:pPr>
            <a:r>
              <a:t>- Always use TypeScript strict mode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57606A"/>
                </a:solidFill>
              </a:defRPr>
            </a:pPr>
            <a:r>
              <a:t>- Prefer async/await over .then()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57606A"/>
                </a:solidFill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1">
                <a:solidFill>
                  <a:srgbClr val="24292E"/>
                </a:solidFill>
              </a:defRPr>
            </a:pPr>
            <a:r>
              <a:t>## Security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57606A"/>
                </a:solidFill>
              </a:defRPr>
            </a:pPr>
            <a:r>
              <a:t>- Set httpOnly, secure, sameSite on cookies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57606A"/>
                </a:solidFill>
              </a:defRPr>
            </a:pPr>
            <a:r>
              <a:t>- Validate all external input with zod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57606A"/>
                </a:solidFill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1">
                <a:solidFill>
                  <a:srgbClr val="24292E"/>
                </a:solidFill>
              </a:defRPr>
            </a:pPr>
            <a:r>
              <a:t>## Testing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57606A"/>
                </a:solidFill>
              </a:defRPr>
            </a:pPr>
            <a:r>
              <a:t>- Write Jest tests for all new functions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57606A"/>
                </a:solidFill>
              </a:defRPr>
            </a:pPr>
            <a:r>
              <a:t>- Minimum 80% coverage for new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669280"/>
            <a:ext cx="10972800" cy="548640"/>
          </a:xfrm>
          <a:prstGeom prst="roundRect">
            <a:avLst/>
          </a:prstGeom>
          <a:solidFill>
            <a:srgbClr val="D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l">
              <a:defRPr sz="1600" b="1">
                <a:solidFill>
                  <a:srgbClr val="0069ED"/>
                </a:solidFill>
              </a:defRPr>
            </a:pPr>
            <a:r>
              <a:t>Analogy: Company policy — always in effect, everyone follows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606A"/>
                </a:solidFill>
              </a:defRPr>
            </a:pPr>
            <a:r>
              <a:t>GitHub Solutions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0"/>
          </a:xfrm>
          <a:prstGeom prst="round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🤖 Copilot Agents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8B949E"/>
                </a:solidFill>
              </a:defRPr>
            </a:pPr>
            <a:r>
              <a:t>Autonomous AI entities that execute tasks end-to-end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5029200" cy="4023360"/>
          </a:xfrm>
          <a:prstGeom prst="roundRect">
            <a:avLst/>
          </a:prstGeom>
          <a:solidFill>
            <a:srgbClr val="DEEEFF"/>
          </a:solidFill>
          <a:ln w="12700">
            <a:solidFill>
              <a:srgbClr val="006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000" b="1">
                <a:solidFill>
                  <a:srgbClr val="0069ED"/>
                </a:solidFill>
              </a:defRPr>
            </a:pPr>
            <a:r>
              <a:t>Coding Agent (built-in)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4292E"/>
                </a:solidFill>
              </a:defRPr>
              <a:buChar char="•"/>
            </a:pPr>
            <a:r>
              <a:t>Assign a GitHub Issue to @copilot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4292E"/>
                </a:solidFill>
              </a:defRPr>
              <a:buChar char="•"/>
            </a:pPr>
            <a:r>
              <a:t>Agent works autonomously in the cloud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4292E"/>
                </a:solidFill>
              </a:defRPr>
              <a:buChar char="•"/>
            </a:pPr>
            <a:r>
              <a:t>Spins up secure, isolated environment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4292E"/>
                </a:solidFill>
              </a:defRPr>
              <a:buChar char="•"/>
            </a:pPr>
            <a:r>
              <a:t>Makes changes, runs CI, opens draft PR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4292E"/>
                </a:solidFill>
              </a:defRPr>
              <a:buChar char="•"/>
            </a:pPr>
            <a:r>
              <a:t>Iterates on PR review feedback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4292E"/>
                </a:solidFill>
              </a:defRPr>
              <a:buChar char="•"/>
            </a:pPr>
            <a:r>
              <a:t>Cannot merge — human review required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4292E"/>
                </a:solidFill>
              </a:defRPr>
            </a:pP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57606A"/>
                </a:solidFill>
              </a:defRPr>
            </a:pPr>
            <a:r>
              <a:t>Best for: Bug fixes, test coverage, doc updates, tech debt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303520" cy="4023360"/>
          </a:xfrm>
          <a:prstGeom prst="roundRect">
            <a:avLst/>
          </a:prstGeom>
          <a:solidFill>
            <a:srgbClr val="E6DCFC"/>
          </a:solidFill>
          <a:ln w="12700"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000" b="1">
                <a:solidFill>
                  <a:srgbClr val="8250DF"/>
                </a:solidFill>
              </a:defRPr>
            </a:pPr>
            <a:r>
              <a:t>Custom Agents (user-defined)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4292E"/>
                </a:solidFill>
              </a:defRPr>
              <a:buChar char="•"/>
            </a:pPr>
            <a:r>
              <a:t>.github/agents/*.agent.md files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4292E"/>
                </a:solidFill>
              </a:defRPr>
              <a:buChar char="•"/>
            </a:pPr>
            <a:r>
              <a:t>Specialized personas with unique instructions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4292E"/>
                </a:solidFill>
              </a:defRPr>
              <a:buChar char="•"/>
            </a:pPr>
            <a:r>
              <a:t>Restricted tool access per agent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4292E"/>
                </a:solidFill>
              </a:defRPr>
              <a:buChar char="•"/>
            </a:pPr>
            <a:r>
              <a:t>Defined areas of expertise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4292E"/>
                </a:solidFill>
              </a:defRPr>
            </a:pPr>
          </a:p>
          <a:p>
            <a:pPr algn="l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57606A"/>
                </a:solidFill>
              </a:defRPr>
            </a:pPr>
            <a:r>
              <a:t>Examples: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4292E"/>
                </a:solidFill>
              </a:defRPr>
              <a:buChar char="•"/>
            </a:pPr>
            <a:r>
              <a:t>Security Reviewer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4292E"/>
                </a:solidFill>
              </a:defRPr>
              <a:buChar char="•"/>
            </a:pPr>
            <a:r>
              <a:t>Documentation Writer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4292E"/>
                </a:solidFill>
              </a:defRPr>
              <a:buChar char="•"/>
            </a:pPr>
            <a:r>
              <a:t>Frontend Specialist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0"/>
            <a:ext cx="10972800" cy="548640"/>
          </a:xfrm>
          <a:prstGeom prst="roundRect">
            <a:avLst/>
          </a:prstGeom>
          <a:solidFill>
            <a:srgbClr val="E6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l">
              <a:defRPr sz="1600" b="1">
                <a:solidFill>
                  <a:srgbClr val="8250DF"/>
                </a:solidFill>
              </a:defRPr>
            </a:pPr>
            <a:r>
              <a:t>Analogy: Junior developer (coding agent) or specialist consultant (custom agent)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606A"/>
                </a:solidFill>
              </a:defRPr>
            </a:pPr>
            <a:r>
              <a:t>GitHub Solutions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0"/>
          </a:xfrm>
          <a:prstGeom prst="round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🤖 Coding Agent — 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1234440" cy="1005840"/>
          </a:xfrm>
          <a:prstGeom prst="roundRect">
            <a:avLst/>
          </a:prstGeom>
          <a:solidFill>
            <a:srgbClr val="DEEEFF"/>
          </a:solidFill>
          <a:ln w="12700">
            <a:solidFill>
              <a:srgbClr val="006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400" b="1">
                <a:solidFill>
                  <a:srgbClr val="0069ED"/>
                </a:solidFill>
              </a:defRPr>
            </a:pPr>
            <a:r>
              <a:t>1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4292E"/>
                </a:solidFill>
              </a:defRPr>
            </a:pPr>
            <a:r>
              <a:t>Developer assigns</a:t>
            </a:r>
            <a:br/>
            <a:r>
              <a:t>issue to @copilot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23317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9ED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47672" y="2011680"/>
            <a:ext cx="1234440" cy="1005840"/>
          </a:xfrm>
          <a:prstGeom prst="roundRect">
            <a:avLst/>
          </a:prstGeom>
          <a:solidFill>
            <a:srgbClr val="DEEEFF"/>
          </a:solidFill>
          <a:ln w="12700">
            <a:solidFill>
              <a:srgbClr val="006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400" b="1">
                <a:solidFill>
                  <a:srgbClr val="0069ED"/>
                </a:solidFill>
              </a:defRPr>
            </a:pPr>
            <a:r>
              <a:t>2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4292E"/>
                </a:solidFill>
              </a:defRPr>
            </a:pPr>
            <a:r>
              <a:t>Agent spins up</a:t>
            </a:r>
            <a:br/>
            <a:r>
              <a:t>secure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82112" y="23317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9ED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6704" y="2011680"/>
            <a:ext cx="1234440" cy="1005840"/>
          </a:xfrm>
          <a:prstGeom prst="roundRect">
            <a:avLst/>
          </a:prstGeom>
          <a:solidFill>
            <a:srgbClr val="DEEEFF"/>
          </a:solidFill>
          <a:ln w="12700">
            <a:solidFill>
              <a:srgbClr val="006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400" b="1">
                <a:solidFill>
                  <a:srgbClr val="0069ED"/>
                </a:solidFill>
              </a:defRPr>
            </a:pPr>
            <a:r>
              <a:t>3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4292E"/>
                </a:solidFill>
              </a:defRPr>
            </a:pPr>
            <a:r>
              <a:t>Reads repo context,</a:t>
            </a:r>
            <a:br/>
            <a:r>
              <a:t>issues, discussions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1144" y="23317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9ED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45736" y="2011680"/>
            <a:ext cx="1234440" cy="1005840"/>
          </a:xfrm>
          <a:prstGeom prst="roundRect">
            <a:avLst/>
          </a:prstGeom>
          <a:solidFill>
            <a:srgbClr val="DEEEFF"/>
          </a:solidFill>
          <a:ln w="12700">
            <a:solidFill>
              <a:srgbClr val="006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400" b="1">
                <a:solidFill>
                  <a:srgbClr val="0069ED"/>
                </a:solidFill>
              </a:defRPr>
            </a:pPr>
            <a:r>
              <a:t>4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4292E"/>
                </a:solidFill>
              </a:defRPr>
            </a:pPr>
            <a:r>
              <a:t>Makes code changes</a:t>
            </a:r>
            <a:br/>
            <a:r>
              <a:t>across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0176" y="23317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9ED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011680"/>
            <a:ext cx="1234440" cy="1005840"/>
          </a:xfrm>
          <a:prstGeom prst="roundRect">
            <a:avLst/>
          </a:prstGeom>
          <a:solidFill>
            <a:srgbClr val="DEEEFF"/>
          </a:solidFill>
          <a:ln w="12700">
            <a:solidFill>
              <a:srgbClr val="006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400" b="1">
                <a:solidFill>
                  <a:srgbClr val="0069ED"/>
                </a:solidFill>
              </a:defRPr>
            </a:pPr>
            <a:r>
              <a:t>5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4292E"/>
                </a:solidFill>
              </a:defRPr>
            </a:pPr>
            <a:r>
              <a:t>Runs CI pipeline</a:t>
            </a:r>
            <a:br/>
            <a:r>
              <a:t>(build, test, lint)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9208" y="23317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9ED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011680"/>
            <a:ext cx="1234440" cy="1005840"/>
          </a:xfrm>
          <a:prstGeom prst="roundRect">
            <a:avLst/>
          </a:prstGeom>
          <a:solidFill>
            <a:srgbClr val="DEEEFF"/>
          </a:solidFill>
          <a:ln w="12700">
            <a:solidFill>
              <a:srgbClr val="006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400" b="1">
                <a:solidFill>
                  <a:srgbClr val="0069ED"/>
                </a:solidFill>
              </a:defRPr>
            </a:pPr>
            <a:r>
              <a:t>6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4292E"/>
                </a:solidFill>
              </a:defRPr>
            </a:pPr>
            <a:r>
              <a:t>Opens draft PR for</a:t>
            </a:r>
            <a:br/>
            <a:r>
              <a:t>human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3317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9ED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2832" y="2011680"/>
            <a:ext cx="1234440" cy="1005840"/>
          </a:xfrm>
          <a:prstGeom prst="roundRect">
            <a:avLst/>
          </a:prstGeom>
          <a:solidFill>
            <a:srgbClr val="DEEEFF"/>
          </a:solidFill>
          <a:ln w="12700">
            <a:solidFill>
              <a:srgbClr val="006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400" b="1">
                <a:solidFill>
                  <a:srgbClr val="0069ED"/>
                </a:solidFill>
              </a:defRPr>
            </a:pPr>
            <a:r>
              <a:t>7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4292E"/>
                </a:solidFill>
              </a:defRPr>
            </a:pPr>
            <a:r>
              <a:t>Iterates on review</a:t>
            </a:r>
            <a:br/>
            <a:r>
              <a:t>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77272" y="23317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9ED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41864" y="2011680"/>
            <a:ext cx="1234440" cy="1005840"/>
          </a:xfrm>
          <a:prstGeom prst="roundRect">
            <a:avLst/>
          </a:prstGeom>
          <a:solidFill>
            <a:srgbClr val="DCF5E4"/>
          </a:solidFill>
          <a:ln w="12700">
            <a:solidFill>
              <a:srgbClr val="006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400" b="1">
                <a:solidFill>
                  <a:srgbClr val="0069ED"/>
                </a:solidFill>
              </a:defRPr>
            </a:pPr>
            <a:r>
              <a:t>8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4292E"/>
                </a:solidFill>
              </a:defRPr>
            </a:pPr>
            <a:r>
              <a:t>Human approves</a:t>
            </a:r>
            <a:br/>
            <a:r>
              <a:t>and merges 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10972800" cy="457200"/>
          </a:xfrm>
          <a:prstGeom prst="roundRect">
            <a:avLst/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l">
              <a:defRPr sz="1600" b="1">
                <a:solidFill>
                  <a:srgbClr val="BF5600"/>
                </a:solidFill>
              </a:defRPr>
            </a:pPr>
            <a:r>
              <a:t>Key: Agent cannot merge PRs — human review is always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606A"/>
                </a:solidFill>
              </a:defRPr>
            </a:pPr>
            <a:r>
              <a:t>GitHub Solutions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0"/>
          </a:xfrm>
          <a:prstGeom prst="round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🧩 Copilot Skills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8B949E"/>
                </a:solidFill>
              </a:defRPr>
            </a:pPr>
            <a:r>
              <a:t>Reusable, modular task playbooks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F37"/>
                </a:solidFill>
              </a:defRPr>
            </a:pPr>
            <a:r>
              <a:t>How it works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Stored in .github/skills/*/SKILL.md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Auto-loaded when prompt matches skill description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Step-by-step instructions, scripts, templates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Portable and shareable across repos</a:t>
            </a:r>
          </a:p>
          <a:p>
            <a:pPr algn="l">
              <a:spcBef>
                <a:spcPts val="2000"/>
              </a:spcBef>
              <a:spcAft>
                <a:spcPts val="200"/>
              </a:spcAft>
              <a:defRPr sz="2200" b="1">
                <a:solidFill>
                  <a:srgbClr val="1A7F37"/>
                </a:solidFill>
              </a:defRPr>
            </a:pPr>
            <a:r>
              <a:t>When to use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Standardize repeatable workflows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Package tribal knowledge into shareable units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Teach Copilot project-specific procedures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Compose complex workflows from modular pieces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64592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Instructions</a:t>
                      </a:r>
                    </a:p>
                  </a:txBody>
                  <a:tcPr anchor="ctr">
                    <a:solidFill>
                      <a:srgbClr val="0069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Skills</a:t>
                      </a:r>
                    </a:p>
                  </a:txBody>
                  <a:tcPr anchor="ctr">
                    <a:solidFill>
                      <a:srgbClr val="1A7F3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292E"/>
                          </a:solidFill>
                        </a:defRPr>
                      </a:pPr>
                      <a:r>
                        <a:t>Always on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292E"/>
                          </a:solidFill>
                        </a:defRPr>
                      </a:pPr>
                      <a:r>
                        <a:t>On-demand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292E"/>
                          </a:solidFill>
                        </a:defRPr>
                      </a:pPr>
                      <a:r>
                        <a:t>Rules &amp; standards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292E"/>
                          </a:solidFill>
                        </a:defRPr>
                      </a:pPr>
                      <a:r>
                        <a:t>Procedures &amp; workflows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57606A"/>
                          </a:solidFill>
                        </a:defRPr>
                      </a:pPr>
                      <a:r>
                        <a:t>"Always do this"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57606A"/>
                          </a:solidFill>
                        </a:defRPr>
                      </a:pPr>
                      <a:r>
                        <a:t>"Here's how to do this"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5669280"/>
            <a:ext cx="10972800" cy="548640"/>
          </a:xfrm>
          <a:prstGeom prst="roundRect">
            <a:avLst/>
          </a:prstGeom>
          <a:solidFill>
            <a:srgbClr val="DC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l">
              <a:defRPr sz="1600" b="1">
                <a:solidFill>
                  <a:srgbClr val="1A7F37"/>
                </a:solidFill>
              </a:defRPr>
            </a:pPr>
            <a:r>
              <a:t>Analogy: Standard operating procedures — on-demand expertise for specific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606A"/>
                </a:solidFill>
              </a:defRPr>
            </a:pPr>
            <a:r>
              <a:t>GitHub Solutions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0"/>
          </a:xfrm>
          <a:prstGeom prst="round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🌐 Copilot Spaces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8B949E"/>
                </a:solidFill>
              </a:defRPr>
            </a:pPr>
            <a:r>
              <a:t>Persistent, collaborative knowledge hubs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F5600"/>
                </a:solidFill>
              </a:defRPr>
            </a:pPr>
            <a:r>
              <a:t>What it is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Aggregate code, docs, specs, instructions in one place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Copilot Chat grounded in all attached context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Always up-to-date as source repos change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Shareable: team, org, or public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Replaces deprecated Copilot Knowledge Bases</a:t>
            </a:r>
          </a:p>
          <a:p>
            <a:pPr algn="l">
              <a:spcBef>
                <a:spcPts val="2000"/>
              </a:spcBef>
              <a:spcAft>
                <a:spcPts val="200"/>
              </a:spcAft>
              <a:defRPr sz="2200" b="1">
                <a:solidFill>
                  <a:srgbClr val="BF5600"/>
                </a:solidFill>
              </a:defRPr>
            </a:pPr>
            <a:r>
              <a:t>When to use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Onboard new team members with shared context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Preserve institutional knowledge and design decisions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Ensure consistent AI responses across a team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Run demos or workshops with pre-loaded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303520" cy="4023360"/>
          </a:xfrm>
          <a:prstGeom prst="roundRect">
            <a:avLst/>
          </a:prstGeom>
          <a:solidFill>
            <a:srgbClr val="FFF1DB"/>
          </a:solidFill>
          <a:ln w="12700">
            <a:solidFill>
              <a:srgbClr val="BF5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000" b="1">
                <a:solidFill>
                  <a:srgbClr val="BF5600"/>
                </a:solidFill>
              </a:defRPr>
            </a:pPr>
            <a:r>
              <a:t>Key Capabilities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1">
                <a:solidFill>
                  <a:srgbClr val="24292E"/>
                </a:solidFill>
              </a:defRPr>
            </a:pPr>
            <a:r>
              <a:t>Centralized Context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300" b="0">
                <a:solidFill>
                  <a:srgbClr val="57606A"/>
                </a:solidFill>
              </a:defRPr>
            </a:pPr>
            <a:r>
              <a:t>Code, docs, issues, and instructions in one place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1">
                <a:solidFill>
                  <a:srgbClr val="24292E"/>
                </a:solidFill>
              </a:defRPr>
            </a:pPr>
            <a:r>
              <a:t>Always Current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300" b="0">
                <a:solidFill>
                  <a:srgbClr val="57606A"/>
                </a:solidFill>
              </a:defRPr>
            </a:pPr>
            <a:r>
              <a:t>Auto-syncs as source repositories change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1">
                <a:solidFill>
                  <a:srgbClr val="24292E"/>
                </a:solidFill>
              </a:defRPr>
            </a:pPr>
            <a:r>
              <a:t>Flexible Sharing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300" b="0">
                <a:solidFill>
                  <a:srgbClr val="57606A"/>
                </a:solidFill>
              </a:defRPr>
            </a:pPr>
            <a:r>
              <a:t>Private, org-wide, or public access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1">
                <a:solidFill>
                  <a:srgbClr val="24292E"/>
                </a:solidFill>
              </a:defRPr>
            </a:pPr>
            <a:r>
              <a:t>IDE Integration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300" b="0">
                <a:solidFill>
                  <a:srgbClr val="57606A"/>
                </a:solidFill>
              </a:defRPr>
            </a:pPr>
            <a:r>
              <a:t>Access via GitHub MCP server in VS Code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1">
                <a:solidFill>
                  <a:srgbClr val="24292E"/>
                </a:solidFill>
              </a:defRPr>
            </a:pPr>
            <a:r>
              <a:t>Custom Instructions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300" b="0">
                <a:solidFill>
                  <a:srgbClr val="57606A"/>
                </a:solidFill>
              </a:defRPr>
            </a:pPr>
            <a:r>
              <a:t>Per-Space rules for tailored behavior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0"/>
            <a:ext cx="10972800" cy="548640"/>
          </a:xfrm>
          <a:prstGeom prst="roundRect">
            <a:avLst/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l">
              <a:defRPr sz="1600" b="1">
                <a:solidFill>
                  <a:srgbClr val="BF5600"/>
                </a:solidFill>
              </a:defRPr>
            </a:pPr>
            <a:r>
              <a:t>Analogy: Team wiki that Copilot has memorized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606A"/>
                </a:solidFill>
              </a:defRPr>
            </a:pPr>
            <a:r>
              <a:t>GitHub Solutions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0"/>
          </a:xfrm>
          <a:prstGeom prst="round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🔌 MCP (Model Context Protocol)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8B949E"/>
                </a:solidFill>
              </a:defRPr>
            </a:pPr>
            <a:r>
              <a:t>Universal protocol for AI ↔ tool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222E"/>
                </a:solidFill>
              </a:defRPr>
            </a:pPr>
            <a:r>
              <a:t>What it is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Open standard for AI ↔ external tool communication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JSON-RPC over HTTP/WebSocket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Copilot = MCP client, tools = MCP servers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Copilot discovers and invokes tools dynamically</a:t>
            </a:r>
          </a:p>
          <a:p>
            <a:pPr algn="l">
              <a:spcBef>
                <a:spcPts val="2000"/>
              </a:spcBef>
              <a:spcAft>
                <a:spcPts val="200"/>
              </a:spcAft>
              <a:defRPr sz="2200" b="1">
                <a:solidFill>
                  <a:srgbClr val="CF222E"/>
                </a:solidFill>
              </a:defRPr>
            </a:pPr>
            <a:r>
              <a:t>Enterprise governance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Approve/deny specific MCP servers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Set authentication requirements (OAuth, PAT)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4292E"/>
                </a:solidFill>
              </a:defRPr>
              <a:buChar char="•"/>
            </a:pPr>
            <a:r>
              <a:t>Audit tool usage across the organization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645920"/>
          <a:ext cx="5303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CF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 anchor="ctr">
                    <a:solidFill>
                      <a:srgbClr val="CF22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4292E"/>
                          </a:solidFill>
                        </a:defRPr>
                      </a:pPr>
                      <a:r>
                        <a:t>GitHub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292E"/>
                          </a:solidFill>
                        </a:defRPr>
                      </a:pPr>
                      <a:r>
                        <a:t>PRs, Issues, Actions, Code Search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4292E"/>
                          </a:solidFill>
                        </a:defRPr>
                      </a:pPr>
                      <a:r>
                        <a:t>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292E"/>
                          </a:solidFill>
                        </a:defRPr>
                      </a:pPr>
                      <a:r>
                        <a:t>Figma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4292E"/>
                          </a:solidFill>
                        </a:defRPr>
                      </a:pPr>
                      <a:r>
                        <a:t>Databases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292E"/>
                          </a:solidFill>
                        </a:defRPr>
                      </a:pPr>
                      <a:r>
                        <a:t>PostgreSQL, MongoDB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4292E"/>
                          </a:solidFill>
                        </a:defRPr>
                      </a:pPr>
                      <a:r>
                        <a:t>DevOps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292E"/>
                          </a:solidFill>
                        </a:defRPr>
                      </a:pPr>
                      <a:r>
                        <a:t>Docker, Kubernetes, Terraform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4292E"/>
                          </a:solidFill>
                        </a:defRPr>
                      </a:pPr>
                      <a:r>
                        <a:t>Custom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292E"/>
                          </a:solidFill>
                        </a:defRPr>
                      </a:pPr>
                      <a:r>
                        <a:t>Your internal tools and APIs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5669280"/>
            <a:ext cx="10972800" cy="548640"/>
          </a:xfrm>
          <a:prstGeom prst="roundRect">
            <a:avLst/>
          </a:prstGeom>
          <a:solidFill>
            <a:srgbClr val="F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l">
              <a:defRPr sz="1600" b="1">
                <a:solidFill>
                  <a:srgbClr val="CF222E"/>
                </a:solidFill>
              </a:defRPr>
            </a:pPr>
            <a:r>
              <a:t>Analogy: USB-C for AI integrations — one standard, every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606A"/>
                </a:solidFill>
              </a:defRPr>
            </a:pPr>
            <a:r>
              <a:t>GitHub Solutions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0"/>
          </a:xfrm>
          <a:prstGeom prst="round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How They Work Together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18320" cy="4754880"/>
          </a:xfrm>
          <a:prstGeom prst="roundRect">
            <a:avLst/>
          </a:prstGeom>
          <a:solidFill>
            <a:srgbClr val="FFF1DB"/>
          </a:solidFill>
          <a:ln w="25400">
            <a:solidFill>
              <a:srgbClr val="BF5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5600"/>
                </a:solidFill>
              </a:defRPr>
            </a:pPr>
            <a:r>
              <a:t>🌐 Copilot Spaces  (shared context &amp; knowledge)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468880"/>
            <a:ext cx="3200400" cy="1097280"/>
          </a:xfrm>
          <a:prstGeom prst="roundRect">
            <a:avLst/>
          </a:prstGeom>
          <a:solidFill>
            <a:srgbClr val="DEEEFF"/>
          </a:solidFill>
          <a:ln w="19050">
            <a:solidFill>
              <a:srgbClr val="006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l">
              <a:defRPr sz="1800" b="1">
                <a:solidFill>
                  <a:srgbClr val="0069ED"/>
                </a:solidFill>
              </a:defRPr>
            </a:pPr>
            <a:r>
              <a:t>📋 Instructions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57606A"/>
                </a:solidFill>
              </a:defRPr>
            </a:pPr>
            <a:r>
              <a:t>(always-on rules)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468880"/>
            <a:ext cx="3200400" cy="1097280"/>
          </a:xfrm>
          <a:prstGeom prst="roundRect">
            <a:avLst/>
          </a:prstGeom>
          <a:solidFill>
            <a:srgbClr val="FCE1E4"/>
          </a:solidFill>
          <a:ln w="19050"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l">
              <a:defRPr sz="1800" b="1">
                <a:solidFill>
                  <a:srgbClr val="CF222E"/>
                </a:solidFill>
              </a:defRPr>
            </a:pPr>
            <a:r>
              <a:t>🔌 MCP Servers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57606A"/>
                </a:solidFill>
              </a:defRPr>
            </a:pPr>
            <a:r>
              <a:t>(external tools &amp; data)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566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69ED"/>
                </a:solidFill>
              </a:defRPr>
            </a:pPr>
            <a:r>
              <a:t>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566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F222E"/>
                </a:solidFill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023360"/>
            <a:ext cx="8229600" cy="2011680"/>
          </a:xfrm>
          <a:prstGeom prst="roundRect">
            <a:avLst/>
          </a:prstGeom>
          <a:solidFill>
            <a:srgbClr val="E6DCFC"/>
          </a:solidFill>
          <a:ln w="19050"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wrap="square"/>
          <a:lstStyle/>
          <a:p>
            <a:pPr algn="l">
              <a:defRPr sz="1800" b="1">
                <a:solidFill>
                  <a:srgbClr val="8250DF"/>
                </a:solidFill>
              </a:defRPr>
            </a:pPr>
            <a:r>
              <a:t>🤖 Copilot Agents  (autonomous task execution)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4754880"/>
            <a:ext cx="5486400" cy="914400"/>
          </a:xfrm>
          <a:prstGeom prst="roundRect">
            <a:avLst/>
          </a:prstGeom>
          <a:solidFill>
            <a:srgbClr val="DCF5E4"/>
          </a:solidFill>
          <a:ln w="1905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l">
              <a:defRPr sz="1600" b="1">
                <a:solidFill>
                  <a:srgbClr val="1A7F37"/>
                </a:solidFill>
              </a:defRPr>
            </a:pPr>
            <a:r>
              <a:t>🧩 Copilot Skills  (reusable procedures agents load on demand)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606A"/>
                </a:solidFill>
              </a:defRPr>
            </a:pPr>
            <a:r>
              <a:t>GitHub Solutions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0"/>
          </a:xfrm>
          <a:prstGeom prst="round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Comparison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5760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Instructions</a:t>
                      </a:r>
                    </a:p>
                  </a:txBody>
                  <a:tcPr anchor="ctr">
                    <a:solidFill>
                      <a:srgbClr val="0069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Agents</a:t>
                      </a:r>
                    </a:p>
                  </a:txBody>
                  <a:tcPr anchor="ctr">
                    <a:solidFill>
                      <a:srgbClr val="8250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Skills</a:t>
                      </a:r>
                    </a:p>
                  </a:txBody>
                  <a:tcPr anchor="ctr">
                    <a:solidFill>
                      <a:srgbClr val="1A7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Spaces</a:t>
                      </a:r>
                    </a:p>
                  </a:txBody>
                  <a:tcPr anchor="ctr">
                    <a:solidFill>
                      <a:srgbClr val="BF5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MCP</a:t>
                      </a:r>
                    </a:p>
                  </a:txBody>
                  <a:tcPr anchor="ctr">
                    <a:solidFill>
                      <a:srgbClr val="CF222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4292E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Rules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Execution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Procedures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Knowledge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Connectivity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4292E"/>
                          </a:solidFill>
                        </a:defRPr>
                      </a:pPr>
                      <a:r>
                        <a:t>When 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Always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On assignment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On-demand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When attached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When configured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4292E"/>
                          </a:solidFill>
                        </a:defRPr>
                      </a:pPr>
                      <a:r>
                        <a:t>Who creates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Dev leads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GitHub / devs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Dev leads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Anyone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Platform teams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4292E"/>
                          </a:solidFill>
                        </a:defRPr>
                      </a:pPr>
                      <a:r>
                        <a:t>Requires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No / 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4292E"/>
                          </a:solidFill>
                        </a:defRPr>
                      </a:pPr>
                      <a:r>
                        <a:t>Shareable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Via repo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Via repo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Via repo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Org / public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57606A"/>
                          </a:solidFill>
                        </a:defRPr>
                      </a:pPr>
                      <a:r>
                        <a:t>Across projects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606A"/>
                </a:solidFill>
              </a:defRPr>
            </a:pPr>
            <a:r>
              <a:t>GitHub Solutions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0"/>
          </a:xfrm>
          <a:prstGeom prst="round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Decision Guide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8B949E"/>
                </a:solidFill>
              </a:defRPr>
            </a:pPr>
            <a:r>
              <a:t>What does the customer want to do?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32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57150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Customer says...</a:t>
                      </a:r>
                    </a:p>
                  </a:txBody>
                  <a:tcPr anchor="ctr"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Recommend</a:t>
                      </a:r>
                    </a:p>
                  </a:txBody>
                  <a:tcPr anchor="ctr">
                    <a:solidFill>
                      <a:srgbClr val="2429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4292E"/>
                          </a:solidFill>
                        </a:defRPr>
                      </a:pPr>
                      <a:r>
                        <a:t>"We need consistent code quality"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069ED"/>
                          </a:solidFill>
                        </a:defRPr>
                      </a:pPr>
                      <a:r>
                        <a:t>📋 Instructions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4292E"/>
                          </a:solidFill>
                        </a:defRPr>
                      </a:pPr>
                      <a:r>
                        <a:t>"We want AI to handle routine tasks"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069ED"/>
                          </a:solidFill>
                        </a:defRPr>
                      </a:pPr>
                      <a:r>
                        <a:t>🤖 Coding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4292E"/>
                          </a:solidFill>
                        </a:defRPr>
                      </a:pPr>
                      <a:r>
                        <a:t>"Different teams need different AI behavior"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069ED"/>
                          </a:solidFill>
                        </a:defRPr>
                      </a:pPr>
                      <a:r>
                        <a:t>🤖 Custom Agents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4292E"/>
                          </a:solidFill>
                        </a:defRPr>
                      </a:pPr>
                      <a:r>
                        <a:t>"We have procedures we want AI to follow"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069ED"/>
                          </a:solidFill>
                        </a:defRPr>
                      </a:pPr>
                      <a:r>
                        <a:t>🧩 Skills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4292E"/>
                          </a:solidFill>
                        </a:defRPr>
                      </a:pPr>
                      <a:r>
                        <a:t>"We need shared project knowledge for AI"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069ED"/>
                          </a:solidFill>
                        </a:defRPr>
                      </a:pPr>
                      <a:r>
                        <a:t>🌐 Spaces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4292E"/>
                          </a:solidFill>
                        </a:defRPr>
                      </a:pPr>
                      <a:r>
                        <a:t>"We need Copilot to use our internal tools"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069ED"/>
                          </a:solidFill>
                        </a:defRPr>
                      </a:pPr>
                      <a:r>
                        <a:t>🔌 MCP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4292E"/>
                          </a:solidFill>
                        </a:defRPr>
                      </a:pPr>
                      <a:r>
                        <a:t>"All of the above"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069ED"/>
                          </a:solidFill>
                        </a:defRPr>
                      </a:pPr>
                      <a:r>
                        <a:t>🔀 Combine them — complementary layers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606A"/>
                </a:solidFill>
              </a:defRPr>
            </a:pPr>
            <a:r>
              <a:t>GitHub Solutions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0"/>
          </a:xfrm>
          <a:prstGeom prst="round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Common Recipes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2560320" cy="3474720"/>
          </a:xfrm>
          <a:prstGeom prst="roundRect">
            <a:avLst/>
          </a:prstGeom>
          <a:solidFill>
            <a:srgbClr val="DEEEFF"/>
          </a:solidFill>
          <a:ln w="6350">
            <a:solidFill>
              <a:srgbClr val="57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3600" b="0">
                <a:solidFill>
                  <a:srgbClr val="24292E"/>
                </a:solidFill>
              </a:defRPr>
            </a:pPr>
            <a:r>
              <a:t>🏢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1800" b="1">
                <a:solidFill>
                  <a:srgbClr val="24292E"/>
                </a:solidFill>
              </a:defRPr>
            </a:pPr>
            <a:r>
              <a:t>Enterprise Consistency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69ED"/>
                </a:solidFill>
              </a:defRPr>
            </a:pPr>
            <a:r>
              <a:t>Instructions + Spaces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57606A"/>
                </a:solidFill>
              </a:defRPr>
            </a:pPr>
            <a:r>
              <a:t>Standards enforced, context shared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560320" cy="3474720"/>
          </a:xfrm>
          <a:prstGeom prst="roundRect">
            <a:avLst/>
          </a:prstGeom>
          <a:solidFill>
            <a:srgbClr val="E6DCFC"/>
          </a:solidFill>
          <a:ln w="6350">
            <a:solidFill>
              <a:srgbClr val="57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3600" b="0">
                <a:solidFill>
                  <a:srgbClr val="24292E"/>
                </a:solidFill>
              </a:defRPr>
            </a:pPr>
            <a:r>
              <a:t>⚡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1800" b="1">
                <a:solidFill>
                  <a:srgbClr val="24292E"/>
                </a:solidFill>
              </a:defRPr>
            </a:pPr>
            <a:r>
              <a:t>Automate the Boring Stuff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69ED"/>
                </a:solidFill>
              </a:defRPr>
            </a:pPr>
            <a:r>
              <a:t>Coding Agent + Skills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57606A"/>
                </a:solidFill>
              </a:defRPr>
            </a:pPr>
            <a:r>
              <a:t>Autonomous work, standardized procedures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2560320" cy="3474720"/>
          </a:xfrm>
          <a:prstGeom prst="roundRect">
            <a:avLst/>
          </a:prstGeom>
          <a:solidFill>
            <a:srgbClr val="DCF5E4"/>
          </a:solidFill>
          <a:ln w="6350">
            <a:solidFill>
              <a:srgbClr val="57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3600" b="0">
                <a:solidFill>
                  <a:srgbClr val="24292E"/>
                </a:solidFill>
              </a:defRPr>
            </a:pPr>
            <a:r>
              <a:t>🔒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1800" b="1">
                <a:solidFill>
                  <a:srgbClr val="24292E"/>
                </a:solidFill>
              </a:defRPr>
            </a:pPr>
            <a:r>
              <a:t>Security-First Development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69ED"/>
                </a:solidFill>
              </a:defRPr>
            </a:pPr>
            <a:r>
              <a:t>Custom Agent + Skills + MCP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57606A"/>
                </a:solidFill>
              </a:defRPr>
            </a:pPr>
            <a:r>
              <a:t>Specialized reviewer, audit playbooks, scanner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645920"/>
            <a:ext cx="2560320" cy="3474720"/>
          </a:xfrm>
          <a:prstGeom prst="roundRect">
            <a:avLst/>
          </a:prstGeom>
          <a:solidFill>
            <a:srgbClr val="FFF1DB"/>
          </a:solidFill>
          <a:ln w="6350">
            <a:solidFill>
              <a:srgbClr val="57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3600" b="0">
                <a:solidFill>
                  <a:srgbClr val="24292E"/>
                </a:solidFill>
              </a:defRPr>
            </a:pPr>
            <a:r>
              <a:t>🚀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1800" b="1">
                <a:solidFill>
                  <a:srgbClr val="24292E"/>
                </a:solidFill>
              </a:defRPr>
            </a:pPr>
            <a:r>
              <a:t>Fast Onboarding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69ED"/>
                </a:solidFill>
              </a:defRPr>
            </a:pPr>
            <a:r>
              <a:t>Spaces + Instructions + Skills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57606A"/>
                </a:solidFill>
              </a:defRPr>
            </a:pPr>
            <a:r>
              <a:t>Shared context, team rules, guided procedures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606A"/>
                </a:solidFill>
              </a:defRPr>
            </a:pPr>
            <a:r>
              <a:t>GitHub Solutions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0"/>
          </a:xfrm>
          <a:prstGeom prst="round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Takeaway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8B949E"/>
                </a:solidFill>
              </a:defRPr>
            </a:pPr>
            <a:r>
              <a:t>These features are complementary layers, not competing alternatives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54480" y="1828800"/>
            <a:ext cx="9144000" cy="777240"/>
          </a:xfrm>
          <a:prstGeom prst="roundRect">
            <a:avLst/>
          </a:prstGeom>
          <a:solidFill>
            <a:srgbClr val="E6DCFC"/>
          </a:solidFill>
          <a:ln w="9525">
            <a:solidFill>
              <a:srgbClr val="57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24292E"/>
                </a:solidFill>
              </a:defRPr>
            </a:pPr>
            <a:r>
              <a:t>🚀 Execution   |   Agents   |   Do the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679192"/>
            <a:ext cx="8595360" cy="777240"/>
          </a:xfrm>
          <a:prstGeom prst="roundRect">
            <a:avLst/>
          </a:prstGeom>
          <a:solidFill>
            <a:srgbClr val="DCF5E4"/>
          </a:solidFill>
          <a:ln w="9525">
            <a:solidFill>
              <a:srgbClr val="57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24292E"/>
                </a:solidFill>
              </a:defRPr>
            </a:pPr>
            <a:r>
              <a:t>🧩 Expertise   |   Skills   |   Package reusable know-how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3529584"/>
            <a:ext cx="8046720" cy="777240"/>
          </a:xfrm>
          <a:prstGeom prst="roundRect">
            <a:avLst/>
          </a:prstGeom>
          <a:solidFill>
            <a:srgbClr val="FCE1E4"/>
          </a:solidFill>
          <a:ln w="9525">
            <a:solidFill>
              <a:srgbClr val="57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24292E"/>
                </a:solidFill>
              </a:defRPr>
            </a:pPr>
            <a:r>
              <a:t>🔌 Connectivity   |   MCP   |   Bridge to external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4379976"/>
            <a:ext cx="7498080" cy="777240"/>
          </a:xfrm>
          <a:prstGeom prst="roundRect">
            <a:avLst/>
          </a:prstGeom>
          <a:solidFill>
            <a:srgbClr val="FFF1DB"/>
          </a:solidFill>
          <a:ln w="9525">
            <a:solidFill>
              <a:srgbClr val="57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24292E"/>
                </a:solidFill>
              </a:defRPr>
            </a:pPr>
            <a:r>
              <a:t>📚 Knowledge   |   Spaces   |   Provide shared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5230368"/>
            <a:ext cx="6949440" cy="777240"/>
          </a:xfrm>
          <a:prstGeom prst="roundRect">
            <a:avLst/>
          </a:prstGeom>
          <a:solidFill>
            <a:srgbClr val="DEEEFF"/>
          </a:solidFill>
          <a:ln w="9525">
            <a:solidFill>
              <a:srgbClr val="57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24292E"/>
                </a:solidFill>
              </a:defRPr>
            </a:pPr>
            <a:r>
              <a:t>🏗️ Foundation   |   Instructions   |   Set the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6035040"/>
            <a:ext cx="10332720" cy="457200"/>
          </a:xfrm>
          <a:prstGeom prst="round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Start with Instructions → Add Spaces → Connect MCP → Package Skills → Let Agents execute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606A"/>
                </a:solidFill>
              </a:defRPr>
            </a:pPr>
            <a:r>
              <a:t>GitHub Solutions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0"/>
          </a:xfrm>
          <a:prstGeom prst="round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2286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9ED"/>
                </a:solidFill>
              </a:defRPr>
            </a:pPr>
            <a:r>
              <a:t>Official Documentation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57606A"/>
                </a:solidFill>
              </a:defRPr>
              <a:buChar char="•"/>
            </a:pPr>
            <a:r>
              <a:t>GitHub Docs: Custom Instructions — docs.github.com/en/copilot/how-tos/configure-custom-instructions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57606A"/>
                </a:solidFill>
              </a:defRPr>
              <a:buChar char="•"/>
            </a:pPr>
            <a:r>
              <a:t>GitHub Docs: Coding Agent — docs.github.com/en/copilot/concepts/agents/coding-agent/about-coding-agent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57606A"/>
                </a:solidFill>
              </a:defRPr>
              <a:buChar char="•"/>
            </a:pPr>
            <a:r>
              <a:t>GitHub Docs: Agent Skills — docs.github.com/en/copilot/concepts/agents/about-agent-skills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57606A"/>
                </a:solidFill>
              </a:defRPr>
              <a:buChar char="•"/>
            </a:pPr>
            <a:r>
              <a:t>GitHub Docs: Copilot Spaces — docs.github.com/en/copilot/how-tos/provide-context/use-copilot-spaces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57606A"/>
                </a:solidFill>
              </a:defRPr>
              <a:buChar char="•"/>
            </a:pPr>
            <a:r>
              <a:t>GitHub Docs: MCP — docs.github.com/en/copilot/concepts/context/mcp</a:t>
            </a:r>
          </a:p>
          <a:p>
            <a:pPr algn="l">
              <a:spcBef>
                <a:spcPts val="2400"/>
              </a:spcBef>
              <a:spcAft>
                <a:spcPts val="200"/>
              </a:spcAft>
              <a:defRPr sz="2200" b="1">
                <a:solidFill>
                  <a:srgbClr val="0069ED"/>
                </a:solidFill>
              </a:defRPr>
            </a:pPr>
            <a:r>
              <a:t>Blog Posts &amp; Guides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57606A"/>
                </a:solidFill>
              </a:defRPr>
              <a:buChar char="•"/>
            </a:pPr>
            <a:r>
              <a:t>GitHub Blog: Coding Agent 101 — github.blog/ai-and-ml/github-copilot/github-copilot-coding-agent-101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57606A"/>
                </a:solidFill>
              </a:defRPr>
              <a:buChar char="•"/>
            </a:pPr>
            <a:r>
              <a:t>GitHub Blog: 5 ways to use MCP — github.blog/ai-and-ml/github-copilot/5-ways-to-transform-your-workflow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57606A"/>
                </a:solidFill>
              </a:defRPr>
              <a:buChar char="•"/>
            </a:pPr>
            <a:r>
              <a:t>VS Code Blog: Custom Instructions — code.visualstudio.com/blogs/2025/03/26/custom-instructions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606A"/>
                </a:solidFill>
              </a:defRPr>
            </a:pPr>
            <a:r>
              <a:t>GitHub Solutions Engineering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69ED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606A"/>
                </a:solidFill>
              </a:defRPr>
            </a:pPr>
            <a:r>
              <a:t>GitHub Solutions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